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sistema completo. Arrancar diciendo qué problema resuelve, no cómo está hecho.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Abre la conversación sin sonar a interrogatorio, y desde aquí el bot sabe si hablarle de plusvalía o de su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 en segundo lugar a propósito: es la pregunta que más separa al curioso del comprador.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Cierra el cuadro. Con el plazo y la forma de pago ya se puede calificar, aunque falte todo lo demás.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lub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1253A">
              <a:alpha val="68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19202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D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 MADERAS · ASESOR AUTORIZADO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37744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Atención automatizada</a:t>
            </a:r>
            <a:endParaRPr lang="en-US" sz="4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captura de prospectos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2976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 el sistema las 24 horas, qué le pregunta a cada prospecto, y cómo decide a quién hay que llamar hoy.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 que resuelve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pasa cuando un prospecto escribe y nadie contesta a tiempo.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94560"/>
            <a:ext cx="475488" cy="47548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92608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Escriben a cualquier hora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703320"/>
            <a:ext cx="2788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mayoría de los mensajes llegan de noche y en fin de semana, cuando nadie está en el teléfono.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434840" y="182880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2194560"/>
            <a:ext cx="475488" cy="47548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5488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292608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interés se enfría rápido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3703320"/>
            <a:ext cx="2788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pregunta por un terreno está preguntando en varios lados al mismo tiempo. Contesta el primero.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29600" y="182880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49640" y="2194560"/>
            <a:ext cx="475488" cy="47548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292608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pierde quién era quién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549640" y="3703320"/>
            <a:ext cx="2788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un registro, a los tres días ya no se sabe cuál de todos los mensajes era el comprador serio.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no reemplaza al asesor: le entrega al prospecto ya calificado y con teléfono.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recorrido, de principio a fin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pasa entre que alguien se interesa y el asesor levanta el teléfono.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084832" cy="32004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44752" y="2286000"/>
            <a:ext cx="475488" cy="47548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44752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7180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Llega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20440"/>
            <a:ext cx="1810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 o escribe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redes, web 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724912" y="299923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944368" y="1920240"/>
            <a:ext cx="2084832" cy="32004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49040" y="2286000"/>
            <a:ext cx="475488" cy="47548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4904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44368" y="297180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Responde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081528" y="3520440"/>
            <a:ext cx="1810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bot contesta al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instante y resuelve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dudas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299923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248656" y="1920240"/>
            <a:ext cx="2084832" cy="32004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53328" y="2286000"/>
            <a:ext cx="475488" cy="47548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05332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48656" y="297180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Califica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385816" y="3520440"/>
            <a:ext cx="1810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preguntas: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uso, plazo 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pago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333488" y="299923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552944" y="1920240"/>
            <a:ext cx="2084832" cy="32004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357616" y="2286000"/>
            <a:ext cx="475488" cy="47548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57616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52944" y="297180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690104" y="3520440"/>
            <a:ext cx="1810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y teléfono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quedan guardados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panel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637776" y="299923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857232" y="1920240"/>
            <a:ext cx="2084832" cy="3200400"/>
          </a:xfrm>
          <a:prstGeom prst="roundRect">
            <a:avLst>
              <a:gd name="adj" fmla="val 3947"/>
            </a:avLst>
          </a:prstGeom>
          <a:solidFill>
            <a:srgbClr val="FBF7EA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661904" y="2286000"/>
            <a:ext cx="475488" cy="47548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661904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857232" y="297180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Avisa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9994392" y="3520440"/>
            <a:ext cx="1810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 caliente,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asesor recibe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al momento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esto ocurre en segundos, a cualquier hora, sin que nadie esté al pendiente.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atiende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bot, el mismo guion y el mismo registro en los cuatro lugares.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965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 web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343400" y="198424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E8F1EA"/>
          </a:solidFill>
          <a:ln w="12700">
            <a:solidFill>
              <a:srgbClr val="9DB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43400" y="198424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56032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propio en el sitio de terrenos, con las 8 plazas y sus mensualidades.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578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83680" y="1965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Facebook Messenger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966960" y="198424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E8F1EA"/>
          </a:solidFill>
          <a:ln w="12700">
            <a:solidFill>
              <a:srgbClr val="9DB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66960" y="198424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256032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Contesta los mensajes de la página y los comentarios de las publicaciones.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886200"/>
            <a:ext cx="52578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60120" y="4069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Instagram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343400" y="408736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E8F1EA"/>
          </a:solidFill>
          <a:ln w="12700">
            <a:solidFill>
              <a:srgbClr val="9DB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43400" y="40873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66344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directos y comentarios, incluidos los de las solicitudes.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886200"/>
            <a:ext cx="52578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83680" y="4069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WhatsApp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966960" y="408736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BF1DC"/>
          </a:solidFill>
          <a:ln w="12700">
            <a:solidFill>
              <a:srgbClr val="D9BE7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966960" y="40873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verificación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466344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Coexistencia: el bot atiende y el asesor puede tomar el chat desde su propio teléfono.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prospecto que empieza en Instagram y sigue en WhatsApp queda como una sola ficha, no como dos.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arib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0"/>
            <a:ext cx="49377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223760" y="0"/>
            <a:ext cx="4937760" cy="6858000"/>
          </a:xfrm>
          <a:prstGeom prst="rect">
            <a:avLst/>
          </a:prstGeom>
          <a:solidFill>
            <a:srgbClr val="11253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64008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un comentario</a:t>
            </a:r>
            <a:endParaRPr lang="en-US" sz="3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una conversación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2011680"/>
            <a:ext cx="420624" cy="420624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97510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Alguien comenta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261872" y="2340864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comentario cuenta, no solo los que piden precio. Quien comentó ya se detuvo en la publicación.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420624" cy="420624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3383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334670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llega un mensaje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261872" y="3712464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 mensaje privado al instante, y una respuesta pública debajo de su comentario.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4754880"/>
            <a:ext cx="420624" cy="420624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4754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61872" y="471830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bot toma la plática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261872" y="5084064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mensaje termina con una pregunta. Cuando la persona responde, arranca el guion completo.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6080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reclamos quedan fuera a propósito: esos los atiende el asesor en persona.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quereta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1253A">
              <a:alpha val="72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2286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D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PARTE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6974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guion del bot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749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pregunta, en qué orden, y cómo decide a quién hay que llamar hoy mismo.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 de oro: contesta primero, pregunta después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bot que interroga antes de dar información se siente ansioso, y la gente se va.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3611880"/>
          </a:xfrm>
          <a:prstGeom prst="roundRect">
            <a:avLst>
              <a:gd name="adj" fmla="val 2278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1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NO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" y="2514600"/>
            <a:ext cx="3291840" cy="566928"/>
          </a:xfrm>
          <a:prstGeom prst="roundRect">
            <a:avLst>
              <a:gd name="adj" fmla="val 22581"/>
            </a:avLst>
          </a:prstGeom>
          <a:solidFill>
            <a:srgbClr val="1B3550"/>
          </a:solidFill>
          <a:ln w="12700">
            <a:solidFill>
              <a:srgbClr val="1B35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06424" y="2514600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 cuesta un terreno?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60120" y="3337560"/>
            <a:ext cx="420624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06424" y="3337560"/>
            <a:ext cx="3913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¿Para qué estás buscando el terreno?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2062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contestó lo que le preguntaron.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1828800"/>
            <a:ext cx="5257800" cy="3611880"/>
          </a:xfrm>
          <a:prstGeom prst="roundRect">
            <a:avLst>
              <a:gd name="adj" fmla="val 2278"/>
            </a:avLst>
          </a:prstGeom>
          <a:solidFill>
            <a:srgbClr val="FBF7EA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8368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C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SÍ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0" y="2514600"/>
            <a:ext cx="3291840" cy="566928"/>
          </a:xfrm>
          <a:prstGeom prst="roundRect">
            <a:avLst>
              <a:gd name="adj" fmla="val 22581"/>
            </a:avLst>
          </a:prstGeom>
          <a:solidFill>
            <a:srgbClr val="1B3550"/>
          </a:solidFill>
          <a:ln w="12700">
            <a:solidFill>
              <a:srgbClr val="1B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9984" y="2514600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 cuesta un terreno?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0" y="3337560"/>
            <a:ext cx="46177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9984" y="3337560"/>
            <a:ext cx="43251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alrededor de $550,000, y la mensualidad desde $1,244 según la ciudad. Para darte tu número, ¿para qué buscas el terreno?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45262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Responde, y la pregunta va pegada al final.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Además: una sola pregunta por mensaje. Nunca dos, ni una con dos partes. Y nunca repetir algo ya contestado.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 1 · Para qué lo busca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649224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60120" y="1993392"/>
            <a:ext cx="420624" cy="420624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20391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ve el cliente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60120" y="2651760"/>
            <a:ext cx="58521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06424" y="2651760"/>
            <a:ext cx="5559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¿Para qué estás buscando el terreno?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3584448"/>
            <a:ext cx="137160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 w="19050">
            <a:solidFill>
              <a:srgbClr val="B4A2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58444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78024" y="3584448"/>
            <a:ext cx="1732788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 w="19050">
            <a:solidFill>
              <a:srgbClr val="B4A2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78024" y="3584448"/>
            <a:ext cx="17327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mi casa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57116" y="3584448"/>
            <a:ext cx="164592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 w="19050">
            <a:solidFill>
              <a:srgbClr val="B4A2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57116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información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22452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botones son tocables: un dedo y listo. Solo estas tres preguntas los llevan.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98080" y="1737360"/>
            <a:ext cx="4023360" cy="3063240"/>
          </a:xfrm>
          <a:prstGeom prst="roundRect">
            <a:avLst>
              <a:gd name="adj" fmla="val 2687"/>
            </a:avLst>
          </a:prstGeom>
          <a:solidFill>
            <a:srgbClr val="11253A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81812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ESTA PREGUNTA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818120" y="256032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la conversación sin sonar a interrogatorio, y desde aquí el bot sabe si hablarle de plusvalía o de su casa.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029200"/>
            <a:ext cx="10881360" cy="1188720"/>
          </a:xfrm>
          <a:prstGeom prst="roundRect">
            <a:avLst>
              <a:gd name="adj" fmla="val 6923"/>
            </a:avLst>
          </a:prstGeom>
          <a:solidFill>
            <a:srgbClr val="FBF7EA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05840" y="5029200"/>
            <a:ext cx="1014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sube ni baja la calificación por sí solo, pero desempata: un inversionista de contado vale más que un curioso.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 2 · Para cuándo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649224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60120" y="1993392"/>
            <a:ext cx="420624" cy="420624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20391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ve el cliente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60120" y="2651760"/>
            <a:ext cx="58521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06424" y="2651760"/>
            <a:ext cx="5559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¿Para cuándo lo estás pensando?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3584448"/>
            <a:ext cx="137160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 w="19050">
            <a:solidFill>
              <a:srgbClr val="B4A2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58444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mes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78024" y="3584448"/>
            <a:ext cx="137160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 w="19050">
            <a:solidFill>
              <a:srgbClr val="B4A2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78024" y="358444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 6 meses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995928" y="3584448"/>
            <a:ext cx="1472184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 w="19050">
            <a:solidFill>
              <a:srgbClr val="B4A2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95928" y="3584448"/>
            <a:ext cx="1472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cotizando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22452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botones son tocables: un dedo y listo. Solo estas tres preguntas los llevan.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98080" y="1737360"/>
            <a:ext cx="4023360" cy="3063240"/>
          </a:xfrm>
          <a:prstGeom prst="roundRect">
            <a:avLst>
              <a:gd name="adj" fmla="val 2687"/>
            </a:avLst>
          </a:prstGeom>
          <a:solidFill>
            <a:srgbClr val="11253A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81812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ESTA PREGUNTA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818120" y="256032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en segundo lugar a propósito: es la pregunta que más separa al curioso del comprador.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029200"/>
            <a:ext cx="10881360" cy="1188720"/>
          </a:xfrm>
          <a:prstGeom prst="roundRect">
            <a:avLst>
              <a:gd name="adj" fmla="val 6923"/>
            </a:avLst>
          </a:prstGeom>
          <a:solidFill>
            <a:srgbClr val="FBF7EA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05840" y="5029200"/>
            <a:ext cx="1014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contesta "solo cotizando" nunca queda como caliente, pague como pague. Es la regla que evita falsas alarmas.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 3 · Cómo lo pagaría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649224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60120" y="1993392"/>
            <a:ext cx="420624" cy="420624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20391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ve el cliente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60120" y="2651760"/>
            <a:ext cx="58521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06424" y="2651760"/>
            <a:ext cx="5559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lo estarías viendo?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3584448"/>
            <a:ext cx="137160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 w="19050">
            <a:solidFill>
              <a:srgbClr val="B4A2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58444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contado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78024" y="3584448"/>
            <a:ext cx="1819656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 w="19050">
            <a:solidFill>
              <a:srgbClr val="B4A2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78024" y="3584448"/>
            <a:ext cx="1819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financiamiento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43984" y="3584448"/>
            <a:ext cx="137160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 w="19050">
            <a:solidFill>
              <a:srgbClr val="B4A2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43984" y="358444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Aún no sé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22452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botones son tocables: un dedo y listo. Solo estas tres preguntas los llevan.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98080" y="1737360"/>
            <a:ext cx="4023360" cy="3063240"/>
          </a:xfrm>
          <a:prstGeom prst="roundRect">
            <a:avLst>
              <a:gd name="adj" fmla="val 2687"/>
            </a:avLst>
          </a:prstGeom>
          <a:solidFill>
            <a:srgbClr val="11253A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81812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ESTA PREGUNTA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818120" y="256032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Cierra el cuadro. Con el plazo y la forma de pago ya se puede calificar, aunque falte todo lo demás.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029200"/>
            <a:ext cx="10881360" cy="1188720"/>
          </a:xfrm>
          <a:prstGeom prst="roundRect">
            <a:avLst>
              <a:gd name="adj" fmla="val 6923"/>
            </a:avLst>
          </a:prstGeom>
          <a:solidFill>
            <a:srgbClr val="FBF7EA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05840" y="5029200"/>
            <a:ext cx="1014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cuanto se sabe esto, el prospecto queda registrado en el panel — antes de pedirle el nombre.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Después, los datos — uno a la vez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los dos en la misma pregunta, y nunca en lista.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5780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48840"/>
            <a:ext cx="420624" cy="420624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148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94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Primero el nombre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60120" y="2880360"/>
            <a:ext cx="461772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06424" y="2880360"/>
            <a:ext cx="4325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te llamas?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874520"/>
            <a:ext cx="525780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0" y="2148840"/>
            <a:ext cx="420624" cy="420624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2148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178040" y="2194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Luego el teléfono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583680" y="2880360"/>
            <a:ext cx="461772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29984" y="2880360"/>
            <a:ext cx="4325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 gusto, Jorge. ¿A qué número te busca el asesor?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892040"/>
            <a:ext cx="10881360" cy="1325880"/>
          </a:xfrm>
          <a:prstGeom prst="roundRect">
            <a:avLst>
              <a:gd name="adj" fmla="val 6207"/>
            </a:avLst>
          </a:prstGeom>
          <a:solidFill>
            <a:srgbClr val="FBF7EA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1005840" y="4892040"/>
            <a:ext cx="10149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Estas dos NO llevan botones: son preguntas abiertas. Pedir nombre y teléfono juntos es la forma más rápida de que alguien deje de contestar.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queda calificado cada prospecto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plazo y la forma de pago basta. El uso solo desempata.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370332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84832"/>
            <a:ext cx="310896" cy="310896"/>
          </a:xfrm>
          <a:prstGeom prst="ellipse">
            <a:avLst/>
          </a:prstGeom>
          <a:solidFill>
            <a:srgbClr val="C146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89888" y="204825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14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Caliente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697480"/>
            <a:ext cx="2788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este mes y ya sabe cómo va a pagar.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el inversionista de contado a 3–6 meses.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60120" y="4800600"/>
            <a:ext cx="2788920" cy="566928"/>
          </a:xfrm>
          <a:prstGeom prst="roundRect">
            <a:avLst>
              <a:gd name="adj" fmla="val 16129"/>
            </a:avLst>
          </a:prstGeom>
          <a:solidFill>
            <a:srgbClr val="FBEDE9"/>
          </a:solidFill>
          <a:ln w="12700">
            <a:solidFill>
              <a:srgbClr val="E0B5A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48006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inmediato al asesor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828800"/>
            <a:ext cx="3429000" cy="370332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2084832"/>
            <a:ext cx="310896" cy="31089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184648" y="204825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Tibio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2697480"/>
            <a:ext cx="2788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3 a 6 meses, o compra pronto pero sin definir todavía cómo paga.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54880" y="4800600"/>
            <a:ext cx="2788920" cy="566928"/>
          </a:xfrm>
          <a:prstGeom prst="roundRect">
            <a:avLst>
              <a:gd name="adj" fmla="val 16129"/>
            </a:avLst>
          </a:prstGeom>
          <a:solidFill>
            <a:srgbClr val="F4F6F8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48006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en la lista, sin aviso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0" y="1828800"/>
            <a:ext cx="3429000" cy="370332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49640" y="2084832"/>
            <a:ext cx="310896" cy="310896"/>
          </a:xfrm>
          <a:prstGeom prst="ellipse">
            <a:avLst/>
          </a:prstGeom>
          <a:solidFill>
            <a:srgbClr val="4E7C8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79408" y="204825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7C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Frío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2697480"/>
            <a:ext cx="2788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está cotizando. Pague como pague, nunca sube de aquí.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549640" y="4800600"/>
            <a:ext cx="2788920" cy="566928"/>
          </a:xfrm>
          <a:prstGeom prst="roundRect">
            <a:avLst>
              <a:gd name="adj" fmla="val 16129"/>
            </a:avLst>
          </a:prstGeom>
          <a:solidFill>
            <a:srgbClr val="F4F6F8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549640" y="48006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guarda, sin aviso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caliente interrumpe al asesor. Avisar de todos entrena a ignorar los avisos — y entonces el aviso que importa también se ignora.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cuenta exacta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una corazonada del bot: es una suma con reglas fijas, iguales para todos.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se pregunta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9659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892040" y="19659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19659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00684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0835640" y="19659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423160"/>
            <a:ext cx="1088136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423160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2423160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mes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2423160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715000" y="2423160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 6 meses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423160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42316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cotizando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0" y="2423160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3264408"/>
            <a:ext cx="1088136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264408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pago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2880360" y="3264408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contado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3264408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715000" y="326440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Financiamiento o crédito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264408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0" y="3264408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Aún no sé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0" y="3264408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40080" y="4160520"/>
            <a:ext cx="5257800" cy="2057400"/>
          </a:xfrm>
          <a:prstGeom prst="roundRect">
            <a:avLst>
              <a:gd name="adj" fmla="val 4000"/>
            </a:avLst>
          </a:prstGeom>
          <a:solidFill>
            <a:srgbClr val="11253A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60120" y="440740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ES CALIENTE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60120" y="480060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este mes y no dijo "aún no sé" cómo paga.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suma 6 o más puntos, contando +1 si es inversionista de contado.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263640" y="4160520"/>
            <a:ext cx="5257800" cy="2057400"/>
          </a:xfrm>
          <a:prstGeom prst="roundRect">
            <a:avLst>
              <a:gd name="adj" fmla="val 4000"/>
            </a:avLst>
          </a:prstGeom>
          <a:solidFill>
            <a:srgbClr val="FBF7EA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583680" y="440740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1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QUE MANDA SOBRE TODAS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583680" y="480060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dice "solo cotizando" queda frío siempre, aunque pague de contado. Sin esa regla, el asesor recibiría avisos de gente que apenas está viendo.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aviso de lead caliente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C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 al teléfono del asesor en el momento, sin importar por qué canal escribió el prospecto.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402336" cy="402336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377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234086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DC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 instante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2688336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3C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cuanto el prospecto termina de contestar las tres preguntas.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402336" cy="402336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25296" y="36667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DC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Solo los calientes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225296" y="4014216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3C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tibios y fríos quedan en el panel, sin sonar el teléfono.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402336" cy="402336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5029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25296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DC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todo lo necesario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225296" y="5340096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3C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Nombre, teléfono, plazo, forma de pago y para qué lo quiere.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949440" y="1600200"/>
            <a:ext cx="4480560" cy="42062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54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269480" y="187452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Lead caliente — contáctalo hoy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269480" y="25146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641080" y="251460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Jorge Ramírez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269480" y="29718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641080" y="297180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686 111 2233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4290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641080" y="342900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Cancún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38862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388620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mes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269480" y="43434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641080" y="434340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Financiamiento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7269480" y="48006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641080" y="480060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269480" y="52303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en el panel  ›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5989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del aviso tal como llega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red de seguridad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pasa si el bot promete una llamada y se le olvida registrar al prospecto.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352044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14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riesgo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560320"/>
            <a:ext cx="46177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Pasó de verdad: un cliente dio ciudad, pago, plazo, nombre y teléfono. El bot le dijo que un asesor lo contactaría — y no quedó registrado en ningún lado.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peor fallo posible, porque por fuera todo se ve bien y nadie tiene motivo para ir a revisar.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257800" cy="3520440"/>
          </a:xfrm>
          <a:prstGeom prst="roundRect">
            <a:avLst>
              <a:gd name="adj" fmla="val 2338"/>
            </a:avLst>
          </a:prstGeom>
          <a:solidFill>
            <a:srgbClr val="FBF7EA"/>
          </a:solidFill>
          <a:ln w="12700">
            <a:solidFill>
              <a:srgbClr val="DD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9AA7B2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8368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solución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560320"/>
            <a:ext cx="46177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el sistema vigila cada respuesta. Si el bot promete contacto y no registró a nadie, el prospecto se levanta solo — con la conversación completa guardada — y el asesor recibe aviso.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cuando el teléfono llega después, avisa otra vez: ese es el momento en que por fin se le puede llamar.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no confía en que todo salga bien: revisa que haya salido bien.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bot nunca hace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mensaje queda escrito, y en bienes raíces una promesa de más se cobra cara.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01952"/>
            <a:ext cx="365760" cy="365760"/>
          </a:xfrm>
          <a:prstGeom prst="ellipse">
            <a:avLst/>
          </a:prstGeom>
          <a:solidFill>
            <a:srgbClr val="1125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901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746504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Nunca dice "garantizar"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828800"/>
            <a:ext cx="6537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plusvalía garantizada, ni rendimiento asegurado, ni siquiera para cosas que sí son ciertas. Junto a una pregunta de inversión, todo eso se lee como promesa de ganancia.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980944"/>
            <a:ext cx="365760" cy="365760"/>
          </a:xfrm>
          <a:prstGeom prst="ellipse">
            <a:avLst/>
          </a:prstGeom>
          <a:solidFill>
            <a:srgbClr val="11253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980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825496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precios siempre son "desde"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983480" y="2907792"/>
            <a:ext cx="6537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un total cerrado. La cifra exacta depende del lote y del plazo, y la confirma el asesor.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059936"/>
            <a:ext cx="365760" cy="365760"/>
          </a:xfrm>
          <a:prstGeom prst="ellipse">
            <a:avLst/>
          </a:prstGeom>
          <a:solidFill>
            <a:srgbClr val="11253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059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904488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Solo terrenos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983480" y="3986784"/>
            <a:ext cx="6537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ofrece casas ni modelos, porque el asesor no los vende. Prometer lo que no se tiene se descubre en la primera llamada.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138928"/>
            <a:ext cx="365760" cy="365760"/>
          </a:xfrm>
          <a:prstGeom prst="ellipse">
            <a:avLst/>
          </a:prstGeom>
          <a:solidFill>
            <a:srgbClr val="1125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5138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983480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pide datos bancarios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5065776"/>
            <a:ext cx="6537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tarjetas, ni comprobantes, ni documentos por el chat. Tampoco aparta lotes ni recibe pagos.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Estas reglas están escritas en el sistema y se verifican solas — no dependen de que el bot tenga un buen día.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monterre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1253A">
              <a:alpha val="74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123444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resumen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640080" y="2569464"/>
            <a:ext cx="292608" cy="29260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143000" y="25146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Contesta en segundos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5166360" y="25146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cualquier hora, en cuatro canales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3465576"/>
            <a:ext cx="292608" cy="29260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43000" y="34107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 lo que importa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3410712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uso, plazo y forma de pago — una por mensaje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4361688"/>
            <a:ext cx="292608" cy="29260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143000" y="430682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 a todos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5166360" y="430682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avisa solo de los que hay que llamar hoy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40080" y="5257800"/>
            <a:ext cx="292608" cy="29260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143000" y="520293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promete de más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5166360" y="5202936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desde, sin garantías, solo terrenos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59436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8D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 MADERAS · TERRENOS PREMIUM · ASESOR AUTORIZADO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atención automatizada</dc:title>
  <dc:subject>PptxGenJS Presentation</dc:subject>
  <dc:creator>Ciudad Maderas — Asesor autorizado</dc:creator>
  <cp:lastModifiedBy>Ciudad Maderas — Asesor autorizado</cp:lastModifiedBy>
  <cp:revision>1</cp:revision>
  <dcterms:created xsi:type="dcterms:W3CDTF">2026-08-29T17:55:27Z</dcterms:created>
  <dcterms:modified xsi:type="dcterms:W3CDTF">2026-08-29T17:55:27Z</dcterms:modified>
</cp:coreProperties>
</file>