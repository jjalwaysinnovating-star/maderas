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sistema completo. Arrancar diciendo qué problema resuelve, no cómo está hecho.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la conversación sin sonar a interrogatorio, y desde aquí el bot sabe si hablarle de plusvalía o de su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 en segundo lugar a propósito: es la pregunta que más separa al curioso del comprador.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cuadro. Con el plazo y la forma de pago ya se puede calificar, aunque falte todo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lube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253A">
              <a:alpha val="68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9202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D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MADERAS · ASESOR AUTORIZADO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37744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Atención automatizada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captura de prospectos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trabaja el sistema las 24 horas, qué le pregunta a cada prospecto, y cómo decide a quién hay que llamar hoy.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resuelve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cuando un prospecto escribe y nadie contesta a tiempo.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Escriben a cualquier hora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mensajes llegan de noche y en fin de semana, cuando nadie está en el teléfono.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87452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194560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interés se enfría rápido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pregunta por un terreno está preguntando en varios lados al mismo tiempo. Contesta el primero.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0" y="1874520"/>
            <a:ext cx="342900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49640" y="2194560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49640" y="2194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4964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pierde quién era quién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33832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registro, a los tres días ya no se sabe cuál de todos los mensajes era el comprador serio.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800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reemplaza al asesor: le entrega al prospecto ya calificado y con teléfono.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recorrido, de principio a fin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pasa entre que alguien se interesa y el asesor levanta el teléfono.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23774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212848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44752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o escribe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redes, web 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724912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44368" y="1965960"/>
            <a:ext cx="2084832" cy="23774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212848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49040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944368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81528" y="324612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contesta 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instante y resuelve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dudas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48656" y="1965960"/>
            <a:ext cx="2084832" cy="23774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53328" y="2212848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53328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48656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Califica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85816" y="324612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preguntas: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uso, plazo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pago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33488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52944" y="1965960"/>
            <a:ext cx="2084832" cy="23774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57616" y="2212848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57616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52944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90104" y="324612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y teléfono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guardados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panel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288036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857232" y="1965960"/>
            <a:ext cx="2084832" cy="2377440"/>
          </a:xfrm>
          <a:prstGeom prst="roundRect">
            <a:avLst>
              <a:gd name="adj" fmla="val 3947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661904" y="2212848"/>
            <a:ext cx="475488" cy="47548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61904" y="22128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57232" y="283464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Avisa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994392" y="3246120"/>
            <a:ext cx="18105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caliente,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recibe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al momento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ocurre en segundos, a cualquier hora, sin que nadie esté al pendiente.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atiende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bot, el mismo guion y el mismo registro en los cuatro lugares.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web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43400" y="207568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 w="12700">
            <a:solidFill>
              <a:srgbClr val="9DBF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20756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4963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propio en el sitio de terrenos, con las 8 plazas y sus mensualidades.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2057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Messenger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966960" y="2075688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 w="12700">
            <a:solidFill>
              <a:srgbClr val="9DBF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0" y="20756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4963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Contesta los mensajes de la página y los comentarios de las publicaciones.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43400" y="364845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E8F1EA"/>
          </a:solidFill>
          <a:ln w="12700">
            <a:solidFill>
              <a:srgbClr val="9DBF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36484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69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directos y comentarios, incluidos los de las solicitudes.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447288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36301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966960" y="3648456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12700">
            <a:solidFill>
              <a:srgbClr val="D9BE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3648456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6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verificación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06908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Coexistencia: el bot atiende y el asesor puede tomar el chat desde su propio teléfono.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prospecto que empieza en Instagram y sigue en WhatsApp queda como una sola ficha, no como dos.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arib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37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0"/>
            <a:ext cx="4937760" cy="6858000"/>
          </a:xfrm>
          <a:prstGeom prst="rect">
            <a:avLst/>
          </a:prstGeom>
          <a:solidFill>
            <a:srgbClr val="11253A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6400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un comentario</a:t>
            </a:r>
            <a:endParaRPr lang="en-US" sz="32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una conversación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9293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comenta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225856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comentario cuenta, no solo los que piden precio. Quien comentó ya se detuvo en la publicación.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31638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llega un mensaje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261872" y="349300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un mensaje privado al instante, y una respuesta pública debajo de su comentario.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61872" y="439826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bot toma la plática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4727448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mensaje termina con una pregunta. Cuando la persona responde, arranca el guion completo.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80644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reclamos quedan fuera a propósito: esos los atiende el asesor en persona.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quereta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253A">
              <a:alpha val="72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D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PARTE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697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guion del bot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pregunta, en qué orden, y cómo decide a quién hay que llamar hoy mismo.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 oro: contesta primero, pregunta después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 que interroga antes de dar información se siente ansioso, y la gente se va.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1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NO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450592"/>
            <a:ext cx="3291840" cy="566928"/>
          </a:xfrm>
          <a:prstGeom prst="roundRect">
            <a:avLst>
              <a:gd name="adj" fmla="val 22581"/>
            </a:avLst>
          </a:prstGeom>
          <a:solidFill>
            <a:srgbClr val="1B355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6424" y="245059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un terreno?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60120" y="3127248"/>
            <a:ext cx="420624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6424" y="3127248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estás buscando el terreno?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contestó lo que le preguntaron.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2834640"/>
          </a:xfrm>
          <a:prstGeom prst="roundRect">
            <a:avLst>
              <a:gd name="adj" fmla="val 2903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8368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C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SÍ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2450592"/>
            <a:ext cx="3291840" cy="566928"/>
          </a:xfrm>
          <a:prstGeom prst="roundRect">
            <a:avLst>
              <a:gd name="adj" fmla="val 22581"/>
            </a:avLst>
          </a:prstGeom>
          <a:solidFill>
            <a:srgbClr val="1B3550"/>
          </a:solidFill>
          <a:ln w="12700">
            <a:solidFill>
              <a:srgbClr val="1B355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9984" y="245059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 un terreno?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83680" y="3127248"/>
            <a:ext cx="4617720" cy="9601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9984" y="3127248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alrededor de $550,000, y la mensualidad desde $1,244 según la ciudad. Para darte tu número, ¿para qué buscas el terreno?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2062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Responde, y la pregunta va pegada al final.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937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Además: una sola pregunta por mensaje. Nunca dos, ni una con dos partes. Y nunca repetir algo ya contestado.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1 · Para qué lo busca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92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2395728"/>
            <a:ext cx="58521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395728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qué estás buscando el terreno?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13716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78024" y="3154680"/>
            <a:ext cx="1732788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78024" y="3154680"/>
            <a:ext cx="17327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mi casa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57116" y="3154680"/>
            <a:ext cx="164592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7116" y="31546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información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75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son tocables: un dedo y listo. Solo estas tres preguntas los llevan.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11253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PREGUNTA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240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conversación sin sonar a interrogatorio, y desde aquí el bot sabe si hablarle de plusvalía o de su casa.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sube ni baja la calificación por sí solo, pero desempata: un inversionista de contado vale más que un curioso.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2 · Para cuándo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92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2395728"/>
            <a:ext cx="58521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395728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¿Para cuándo lo estás pensando?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13716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78024" y="3154680"/>
            <a:ext cx="13716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78024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6 meses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95928" y="3154680"/>
            <a:ext cx="1472184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95928" y="3154680"/>
            <a:ext cx="1472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cotizando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75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son tocables: un dedo y listo. Solo estas tres preguntas los llevan.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11253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PREGUNTA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240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en segundo lugar a propósito: es la pregunta que más separa al curioso del comprador.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contesta "solo cotizando" nunca queda como caliente, pague como pague. Es la regla que evita falsas alarmas.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3 · Cómo lo pagaría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922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2880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60120" y="2395728"/>
            <a:ext cx="585216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06424" y="2395728"/>
            <a:ext cx="5559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estarías viendo?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13716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contado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78024" y="3154680"/>
            <a:ext cx="1819656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78024" y="315468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financiamiento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43984" y="3154680"/>
            <a:ext cx="1371600" cy="420624"/>
          </a:xfrm>
          <a:prstGeom prst="roundRect">
            <a:avLst>
              <a:gd name="adj" fmla="val 47826"/>
            </a:avLst>
          </a:prstGeom>
          <a:solidFill>
            <a:srgbClr val="FFFFFF"/>
          </a:solidFill>
          <a:ln w="19050">
            <a:solidFill>
              <a:srgbClr val="B4A2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31546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sé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7588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botones son tocables: un dedo y listo. Solo estas tres preguntas los llevan.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4023360" cy="2286000"/>
          </a:xfrm>
          <a:prstGeom prst="roundRect">
            <a:avLst>
              <a:gd name="adj" fmla="val 3600"/>
            </a:avLst>
          </a:prstGeom>
          <a:solidFill>
            <a:srgbClr val="11253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818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 PREGUNTA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22402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el cuadro. Con el plazo y la forma de pago ya se puede calificar, aunque falte todo lo demás.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05840" y="4160520"/>
            <a:ext cx="10149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se sabe esto, el prospecto queda registrado en el panel — antes de pedirle el nombre.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Después, los datos — uno a la vez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los dos en la misma pregunta, y nunca en lista.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Primero el nombre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0120" y="2697480"/>
            <a:ext cx="4617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06424" y="2697480"/>
            <a:ext cx="4325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te llamas?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2578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103120"/>
            <a:ext cx="420624" cy="420624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Luego el teléfono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2697480"/>
            <a:ext cx="4617720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29984" y="2697480"/>
            <a:ext cx="4325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 gusto, Jorge. ¿A qué número te busca el asesor?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11480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dos NO llevan botones: son preguntas abiertas. Pedir nombre y teléfono juntos es la forma más rápida de que alguien deje de contestar.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queda calificado cada prospecto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plazo y la forma de pago basta. El uso solo desempata.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84832"/>
            <a:ext cx="310896" cy="310896"/>
          </a:xfrm>
          <a:prstGeom prst="ellipse">
            <a:avLst/>
          </a:prstGeom>
          <a:solidFill>
            <a:srgbClr val="C146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89888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Caliente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06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este mes y ya sabe cómo va a pagar.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el inversionista de contado a 3–6 meses.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411480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BEDE9"/>
          </a:solidFill>
          <a:ln w="12700">
            <a:solidFill>
              <a:srgbClr val="E0B5A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411480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1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inmediato al asesor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82880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8483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84648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Tibio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606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6 meses, o compra pronto pero sin definir todavía cómo paga.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411480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411480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en la lista, sin aviso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49640" y="2084832"/>
            <a:ext cx="310896" cy="310896"/>
          </a:xfrm>
          <a:prstGeom prst="ellipse">
            <a:avLst/>
          </a:prstGeom>
          <a:solidFill>
            <a:srgbClr val="4E7C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79408" y="204825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Frío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49640" y="260604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está cotizando. Pague como pague, nunca sube de aquí.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49640" y="411480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49640" y="411480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guarda, sin aviso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caliente interrumpe al asesor. Avisar de todos entrena a ignorar los avisos — y entonces el aviso que importa también se ignora.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cuenta exacta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corazonada del bot: es una suma con reglas fijas, iguales para todos.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pregunta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874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89204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00684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83564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286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2286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22860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2286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6 meses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22860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0" y="22860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cotizando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0" y="22860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2944368"/>
            <a:ext cx="108813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94436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pago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294436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contado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29443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29443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 o crédito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458200" y="29443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9443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no sé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0" y="2944368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703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11253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960120" y="3913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ES CALIENTE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60120" y="42519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este mes y no dijo "aún no sé" cómo paga.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suma 6 o más puntos, contando +1 si es inversionista de contado.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63640" y="3703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583680" y="3913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1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QUE MANDA SOBRE TODAS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251960"/>
            <a:ext cx="4617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dice "solo cotizando" queda frío siempre, aunque pague de contado. Sin esa regla, el asesor recibiría avisos de gente que apenas está viendo.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aviso de lead caliente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 al teléfono del asesor en el momento, sin importar por qué canal escribió el prospecto.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402336" cy="402336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2112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instante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423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el prospecto termina de contestar las tres preguntas.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02336" cy="402336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3255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los calientes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3566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tibios y fríos quedan en el panel, sin sonar el teléfono.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02336" cy="402336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34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43982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DC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todo lo necesario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47091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3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teléfono, plazo, forma de pago y para qué lo quiere.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417320"/>
            <a:ext cx="4480560" cy="3977640"/>
          </a:xfrm>
          <a:prstGeom prst="roundRect">
            <a:avLst>
              <a:gd name="adj" fmla="val 36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269480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Lead caliente — contáctalo hoy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221284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Ramírez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269480" y="2615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261518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686 111 2233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0175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641080" y="30175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Cancún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3419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341985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38221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4224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641080" y="42245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69480" y="4754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en el panel  ›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5532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del aviso tal como llega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red de seguridad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si el bot promete una llamada y se le olvida registrar al prospecto.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14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Pasó de verdad: un cliente dio ciudad, pago, plazo, nombre y teléfono. El bot le dijo que un asesor lo contactaría — y no quedó registrado en ningún lado.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peor fallo posible, porque por fuera todo se ve bien y nadie tiene motivo para ir a revisar.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257800" cy="2651760"/>
          </a:xfrm>
          <a:prstGeom prst="roundRect">
            <a:avLst>
              <a:gd name="adj" fmla="val 3103"/>
            </a:avLst>
          </a:prstGeom>
          <a:solidFill>
            <a:srgbClr val="FBF7EA"/>
          </a:solidFill>
          <a:ln w="12700">
            <a:solidFill>
              <a:srgbClr val="DDE3E8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2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1460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el sistema vigila cada respuesta. Si el bot promete contacto y no registró a nadie, el prospecto se levanta solo — con la conversación completa guardada — y el asesor recibe aviso.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cuando el teléfono llega después, avisa otra vez: ese es el momento en que por fin se le puede llamar.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no confía en que todo salga bien: revisa que haya salido bien.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el bot nunca hace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mensaje queda escrito, y en bienes raíces una promesa de más se cobra cara.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365760" cy="365760"/>
          </a:xfrm>
          <a:prstGeom prst="ellipse">
            <a:avLst/>
          </a:prstGeom>
          <a:solidFill>
            <a:srgbClr val="1125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70078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Nunca dice "garantizar"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983480" y="178308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plusvalía garantizada, ni rendimiento asegurado, ni siquiera para cosas que sí son ciertas. Junto a una pregunta de inversión, todo eso se lee como promesa de ganancia.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365760" cy="365760"/>
          </a:xfrm>
          <a:prstGeom prst="ellipse">
            <a:avLst/>
          </a:prstGeom>
          <a:solidFill>
            <a:srgbClr val="1125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66090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precios siempre son "desde"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74320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un total cerrado. La cifra exacta depende del lote y del plazo, y la confirma el asesor.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365760" cy="365760"/>
          </a:xfrm>
          <a:prstGeom prst="ellipse">
            <a:avLst/>
          </a:prstGeom>
          <a:solidFill>
            <a:srgbClr val="1125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776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62102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terrenos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70332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ofrece casas ni modelos, porque el asesor no los vende. Prometer lo que no se tiene se descubre en la primera llamada.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365760" cy="365760"/>
          </a:xfrm>
          <a:prstGeom prst="ellipse">
            <a:avLst/>
          </a:prstGeom>
          <a:solidFill>
            <a:srgbClr val="1125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A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581144"/>
            <a:ext cx="3611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25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pide datos bancarios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663440"/>
            <a:ext cx="6537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tarjetas, ni comprobantes, ni documentos por el chat. Tampoco aparta lotes ni recibe pagos.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reglas están escritas en el sistema y se verifican solas — no dependen de que el bot tenga un buen día.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monterre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1253A">
              <a:alpha val="74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569464"/>
            <a:ext cx="292608" cy="29260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143000" y="25146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Contesta en segundos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2514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cualquier hora, en cuatro canales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346704"/>
            <a:ext cx="292608" cy="29260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43000" y="3291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 lo que importa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32918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uso, plazo y forma de pago — una por mensaje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4123944"/>
            <a:ext cx="292608" cy="29260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069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 a todos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4069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avisa solo de los que hay que llamar hoy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901184"/>
            <a:ext cx="292608" cy="292608"/>
          </a:xfrm>
          <a:prstGeom prst="ellipse">
            <a:avLst/>
          </a:prstGeom>
          <a:solidFill>
            <a:srgbClr val="B4A26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43000" y="4846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promete de más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4846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precios desde, sin garantías, solo terrenos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8D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MADERAS · TERRENOS PREMIUM · ASESOR AUTORIZADO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atención automatizada</dc:title>
  <dc:subject>PptxGenJS Presentation</dc:subject>
  <dc:creator>Ciudad Maderas — Asesor autorizado</dc:creator>
  <cp:lastModifiedBy>Ciudad Maderas — Asesor autorizado</cp:lastModifiedBy>
  <cp:revision>1</cp:revision>
  <dcterms:created xsi:type="dcterms:W3CDTF">2026-08-29T17:45:21Z</dcterms:created>
  <dcterms:modified xsi:type="dcterms:W3CDTF">2026-08-29T17:45:21Z</dcterms:modified>
</cp:coreProperties>
</file>